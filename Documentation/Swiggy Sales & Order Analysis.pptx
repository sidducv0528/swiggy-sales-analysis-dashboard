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Unbounded"/>
      <p:bold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penSans-regular.fntdata"/><Relationship Id="rId14" Type="http://schemas.openxmlformats.org/officeDocument/2006/relationships/font" Target="fonts/Unbounded-bold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linkedin.com/in/siddu-data/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hyperlink" Target="https://cdn.gamma.app/nfroc6lisd1i823/75051b0cb3d74487abcdb8cfdb04e180/original/Swiggy_Dashboard.png" TargetMode="External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496119" y="1402705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400"/>
              <a:buFont typeface="Unbounded"/>
              <a:buNone/>
            </a:pPr>
            <a:r>
              <a:rPr b="1" i="0" lang="en-US" sz="24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Swiggy Sales &amp; Order Analysis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267519" y="2038276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Open Sans"/>
              <a:buNone/>
            </a:pPr>
            <a:r>
              <a:rPr b="0" i="0" lang="en-US" sz="9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Interactive Excel Dashboard  |  197K+ Orders Analyzed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96119" y="2407221"/>
            <a:ext cx="8151763" cy="14288"/>
          </a:xfrm>
          <a:prstGeom prst="roundRect">
            <a:avLst>
              <a:gd fmla="val 49998" name="adj"/>
            </a:avLst>
          </a:prstGeom>
          <a:solidFill>
            <a:srgbClr val="333F7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406822" y="2591991"/>
            <a:ext cx="4103191" cy="1148804"/>
          </a:xfrm>
          <a:prstGeom prst="roundRect">
            <a:avLst>
              <a:gd fmla="val 7774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530796" y="2715964"/>
            <a:ext cx="385524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Unbounded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Project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30796" y="3033787"/>
            <a:ext cx="3855244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Open Sans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Analytics Portfolio Project — Excel-based interactive dashboard covering sales performance, order trends, customer ratings, food preferences, and state-level insights.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728046" y="2715964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200"/>
              <a:buFont typeface="Unbounded"/>
              <a:buNone/>
            </a:pPr>
            <a:r>
              <a:rPr b="1" i="0" lang="en-US" sz="12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Dataset 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728046" y="3033787"/>
            <a:ext cx="3924598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Open Sans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197,430 records</a:t>
            </a:r>
            <a:r>
              <a:rPr b="0" i="0" lang="en-US" sz="9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analyzed across 10+ analytical dimensions including State, City, Date, Restaurant, Category, Food Type, Price, and Rating.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958250" y="4880250"/>
            <a:ext cx="1103700" cy="19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" name="Google Shape;29;p4" title="linkdrin_logo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00" y="56775"/>
            <a:ext cx="544175" cy="54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496119" y="345132"/>
            <a:ext cx="631627" cy="112514"/>
          </a:xfrm>
          <a:prstGeom prst="roundRect">
            <a:avLst>
              <a:gd fmla="val 22140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540544" y="367308"/>
            <a:ext cx="999976" cy="68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50"/>
              <a:buFont typeface="Open Sans"/>
              <a:buNone/>
            </a:pPr>
            <a:r>
              <a:rPr b="0" i="0" lang="en-US" sz="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PROJECT OVERVIEW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96119" y="475357"/>
            <a:ext cx="8151763" cy="231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450"/>
              <a:buFont typeface="Unbounded"/>
              <a:buNone/>
            </a:pPr>
            <a:r>
              <a:rPr b="1" i="0" lang="en-US" sz="14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From Raw Data to Business Insights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96119" y="773460"/>
            <a:ext cx="8151763" cy="189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550"/>
              <a:buFont typeface="Open Sans"/>
              <a:buNone/>
            </a:pPr>
            <a:r>
              <a:rPr b="0" i="0" lang="en-US" sz="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This project analyzes Swiggy order data to understand sales performance, order trends, customer ratings, food preferences, restaurant activity, and state-level performance — transforming a raw dataset into an actionable, interactive Excel dashboard.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4799" y="1012701"/>
            <a:ext cx="5454402" cy="298050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>
            <a:off x="2564048" y="2409245"/>
            <a:ext cx="1263830" cy="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Unbounded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Raw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755435" y="2303878"/>
            <a:ext cx="1263830" cy="343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Unbounded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 Preparation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196424" y="2396062"/>
            <a:ext cx="1263830" cy="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50"/>
              <a:buFont typeface="Unbounded"/>
              <a:buNone/>
            </a:pPr>
            <a:r>
              <a:rPr b="1" i="0" lang="en-US" sz="1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Analysis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96119" y="4087267"/>
            <a:ext cx="3985468" cy="11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00"/>
              <a:buFont typeface="Unbounded"/>
              <a:buNone/>
            </a:pPr>
            <a:r>
              <a:rPr b="1" i="0" lang="en-US" sz="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Dataset Dimensions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96119" y="4247331"/>
            <a:ext cx="3985468" cy="535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117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550"/>
              <a:buFont typeface="Open Sans"/>
              <a:buChar char="•"/>
            </a:pPr>
            <a:r>
              <a:rPr b="0" i="0" lang="en-US" sz="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State, City, and regional geography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760" lvl="0" marL="1117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550"/>
              <a:buFont typeface="Open Sans"/>
              <a:buChar char="•"/>
            </a:pPr>
            <a:r>
              <a:rPr b="0" i="0" lang="en-US" sz="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Date, weekday, and quarterly period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760" lvl="0" marL="1117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550"/>
              <a:buFont typeface="Open Sans"/>
              <a:buChar char="•"/>
            </a:pPr>
            <a:r>
              <a:rPr b="0" i="0" lang="en-US" sz="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Restaurant name and food category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760" lvl="0" marL="1117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550"/>
              <a:buFont typeface="Open Sans"/>
              <a:buChar char="•"/>
            </a:pPr>
            <a:r>
              <a:rPr b="0" i="0" lang="en-US" sz="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Food type (Veg / Non-Veg)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760" lvl="0" marL="1117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550"/>
              <a:buFont typeface="Open Sans"/>
              <a:buChar char="•"/>
            </a:pPr>
            <a:r>
              <a:rPr b="0" i="0" lang="en-US" sz="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Price, order value, and rating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667176" y="4087267"/>
            <a:ext cx="3985468" cy="115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00"/>
              <a:buFont typeface="Unbounded"/>
              <a:buNone/>
            </a:pPr>
            <a:r>
              <a:rPr b="1" i="0" lang="en-US" sz="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Technical Stack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667176" y="4247331"/>
            <a:ext cx="3985468" cy="425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117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550"/>
              <a:buFont typeface="Open Sans"/>
              <a:buChar char="•"/>
            </a:pPr>
            <a:r>
              <a:rPr b="0" i="0" lang="en-US" sz="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Microsoft Excel — primary analysis tool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760" lvl="0" marL="1117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550"/>
              <a:buFont typeface="Open Sans"/>
              <a:buChar char="•"/>
            </a:pPr>
            <a:r>
              <a:rPr b="0" i="0" lang="en-US" sz="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Pivot tables for multi-dimensional slicing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760" lvl="0" marL="1117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550"/>
              <a:buFont typeface="Open Sans"/>
              <a:buChar char="•"/>
            </a:pPr>
            <a:r>
              <a:rPr b="0" i="0" lang="en-US" sz="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Excel formulas for KPI computation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1760" lvl="0" marL="1117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550"/>
              <a:buFont typeface="Open Sans"/>
              <a:buChar char="•"/>
            </a:pPr>
            <a:r>
              <a:rPr b="0" i="0" lang="en-US" sz="5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Interactive dashboard with slicers and filters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4950" y="4870650"/>
            <a:ext cx="1139050" cy="247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496119" y="572914"/>
            <a:ext cx="1283643" cy="179115"/>
          </a:xfrm>
          <a:prstGeom prst="roundRect">
            <a:avLst>
              <a:gd fmla="val 22106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566812" y="608261"/>
            <a:ext cx="1599456" cy="108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00"/>
              <a:buFont typeface="Open Sans"/>
              <a:buNone/>
            </a:pPr>
            <a:r>
              <a:rPr b="0" i="0" lang="en-US" sz="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ANALYTICAL FRAMEWORK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496119" y="796751"/>
            <a:ext cx="8151763" cy="368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300"/>
              <a:buFont typeface="Unbounded"/>
              <a:buNone/>
            </a:pPr>
            <a:r>
              <a:rPr b="1" i="0" lang="en-US" sz="2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Business Questions Driving the Analysis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96119" y="1332830"/>
            <a:ext cx="8151763" cy="367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dashboard was built to answer ten core business questions that span financial performance, customer behavior, geographic distribution, and operational patterns.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952402"/>
            <a:ext cx="3932113" cy="119017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685354" y="2084487"/>
            <a:ext cx="3610794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Financial Performance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685354" y="2380580"/>
            <a:ext cx="3610794" cy="62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much total sales were generated?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many orders were placed?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is the average order value?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254499"/>
            <a:ext cx="3932113" cy="119017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685354" y="3386584"/>
            <a:ext cx="3610794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Trends Over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85354" y="3682678"/>
            <a:ext cx="3610794" cy="62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do sales change over time?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does performance vary across quarters?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patterns can support business decisions?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0530" y="1952402"/>
            <a:ext cx="3932113" cy="96716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/>
          <p:nvPr/>
        </p:nvSpPr>
        <p:spPr>
          <a:xfrm>
            <a:off x="4909765" y="2084487"/>
            <a:ext cx="3610794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Geography &amp; Category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909765" y="2380580"/>
            <a:ext cx="3610794" cy="406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Which states generate the highest sales?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Which restaurants and categories contribute most?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" name="Google Shape;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0530" y="3031480"/>
            <a:ext cx="3932113" cy="96716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/>
          <p:nvPr/>
        </p:nvSpPr>
        <p:spPr>
          <a:xfrm>
            <a:off x="4909765" y="3163565"/>
            <a:ext cx="3610794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Customer Behavior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909765" y="3459659"/>
            <a:ext cx="3610794" cy="406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What is the Veg vs Non-Veg distribution?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Char char="•"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are customer ratings distributed?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4950" y="4870650"/>
            <a:ext cx="1139050" cy="247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496119" y="576858"/>
            <a:ext cx="687586" cy="160288"/>
          </a:xfrm>
          <a:prstGeom prst="roundRect">
            <a:avLst>
              <a:gd fmla="val 22103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559371" y="608484"/>
            <a:ext cx="1018282" cy="97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50"/>
              <a:buFont typeface="Open Sans"/>
              <a:buNone/>
            </a:pPr>
            <a:r>
              <a:rPr b="0" i="0" lang="en-US" sz="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KPI OVERVIEW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496119" y="772939"/>
            <a:ext cx="8151763" cy="329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50"/>
              <a:buFont typeface="Unbounded"/>
              <a:buNone/>
            </a:pPr>
            <a:r>
              <a:rPr b="1" i="0" lang="en-US" sz="2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Dashboard at a Glance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96119" y="1236762"/>
            <a:ext cx="8151763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Five headline metrics anchor the dashboard, providing a high-level view of sales scale, order volume, customer satisfaction, and average transaction value across the full dataset.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694283" y="1702296"/>
            <a:ext cx="2246188" cy="34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₹53M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96119" y="2170137"/>
            <a:ext cx="2642592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Total Sales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96119" y="2388543"/>
            <a:ext cx="2642592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₹53.01M in total revenue generated across all orders in the dataset.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3448869" y="1702296"/>
            <a:ext cx="2246188" cy="34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197K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250704" y="2170137"/>
            <a:ext cx="2642592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Total Orders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250704" y="2388543"/>
            <a:ext cx="2642592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197,430 individual orders analyzed across all states, cities, and restaurants.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6203454" y="1702296"/>
            <a:ext cx="2246188" cy="34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₹269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005289" y="2170137"/>
            <a:ext cx="2642592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Avg Order Value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005289" y="2388543"/>
            <a:ext cx="2642592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₹268.51 average spend per order, indicating mid-range transaction behavior.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2071539" y="2932509"/>
            <a:ext cx="2246188" cy="34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4.34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873374" y="3400351"/>
            <a:ext cx="2642592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Avg Rating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873374" y="3618756"/>
            <a:ext cx="2642592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Customer satisfaction score of 4.34 out of 5, reflecting strong service quality.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826124" y="2932509"/>
            <a:ext cx="2246188" cy="34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700"/>
              <a:buFont typeface="Unbounded"/>
              <a:buNone/>
            </a:pPr>
            <a:r>
              <a:rPr b="1" i="0" lang="en-US" sz="27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5.6M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627959" y="3400351"/>
            <a:ext cx="2642592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Rating 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627959" y="3618756"/>
            <a:ext cx="2642592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5.59M ratings submitted — a high-confidence basis for the average rating metric.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96119" y="4031605"/>
            <a:ext cx="8151763" cy="534963"/>
          </a:xfrm>
          <a:prstGeom prst="roundRect">
            <a:avLst>
              <a:gd fmla="val 8278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489" y="4160118"/>
            <a:ext cx="131787" cy="10537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838646" y="4147542"/>
            <a:ext cx="7703865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rating count of 5.59M across 197.43K orders implies approximately </a:t>
            </a:r>
            <a:r>
              <a:rPr b="1" i="0" lang="en-US" sz="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28 ratings per order record</a:t>
            </a:r>
            <a:r>
              <a:rPr b="0" i="0" lang="en-US" sz="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on average — suggesting ratings reflect restaurant-level aggregates rather than individual order feedback.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4950" y="4870650"/>
            <a:ext cx="1139050" cy="247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496119" y="608856"/>
            <a:ext cx="795710" cy="160288"/>
          </a:xfrm>
          <a:prstGeom prst="roundRect">
            <a:avLst>
              <a:gd fmla="val 22103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559371" y="640482"/>
            <a:ext cx="1126406" cy="97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50"/>
              <a:buFont typeface="Open Sans"/>
              <a:buNone/>
            </a:pPr>
            <a:r>
              <a:rPr b="0" i="0" lang="en-US" sz="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TREND ANALYSIS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96119" y="804937"/>
            <a:ext cx="8151763" cy="329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50"/>
              <a:buFont typeface="Unbounded"/>
              <a:buNone/>
            </a:pPr>
            <a:r>
              <a:rPr b="1" i="0" lang="en-US" sz="2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Sales Trends: Monthly, Weekly &amp; Daily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96119" y="1358354"/>
            <a:ext cx="3947294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Monthly Sales Trend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96119" y="1612627"/>
            <a:ext cx="3947294" cy="7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monthly trend chart reveals sales variation across the analyzed period. Fluctuations in month-over-month performance indicate the presence of seasonal or promotional patterns in order activity — periods of elevated demand that can be targeted for investment, and troughs that signal opportunities for promotional intervention.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496119" y="2482453"/>
            <a:ext cx="3947294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Daily &amp; Weekly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96119" y="2736726"/>
            <a:ext cx="3947294" cy="624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Daily sales data exposes variation across weekdays, capturing behavioral patterns in when customers order. The weekly trend layer provides a smoothed view of consistent directional movement, which is more actionable for operational planning than raw daily noise.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5350" y="1369516"/>
            <a:ext cx="3947294" cy="961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9044" y="1771278"/>
            <a:ext cx="158130" cy="1581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/>
          <p:nvPr/>
        </p:nvSpPr>
        <p:spPr>
          <a:xfrm>
            <a:off x="5230937" y="1489174"/>
            <a:ext cx="3302050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Demand Planning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230937" y="1743447"/>
            <a:ext cx="3302050" cy="468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Sales trends guide inventory and staffing allocation across high and low-performing periods, reducing waste during troughs and preventing stockouts during peaks.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5350" y="2420838"/>
            <a:ext cx="3947294" cy="961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9044" y="2822600"/>
            <a:ext cx="158130" cy="15813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/>
          <p:nvPr/>
        </p:nvSpPr>
        <p:spPr>
          <a:xfrm>
            <a:off x="5230937" y="2540496"/>
            <a:ext cx="3302050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Promotions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5230937" y="2794769"/>
            <a:ext cx="3302050" cy="468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Periods of lower sales activity can be identified precisely and targeted with promotional campaigns to stimulate incremental order volume.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5350" y="3472160"/>
            <a:ext cx="3947294" cy="961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9" name="Google Shape;11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9044" y="3873922"/>
            <a:ext cx="158130" cy="15813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/>
          <p:nvPr/>
        </p:nvSpPr>
        <p:spPr>
          <a:xfrm>
            <a:off x="5230937" y="3591818"/>
            <a:ext cx="3302050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Operational Efficiency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230937" y="3846091"/>
            <a:ext cx="3302050" cy="4681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Aligning delivery resources and restaurant operations with observed demand patterns reduces cost and improves service levels simultaneously.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4950" y="4870650"/>
            <a:ext cx="1139050" cy="247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496119" y="405929"/>
            <a:ext cx="1281633" cy="160288"/>
          </a:xfrm>
          <a:prstGeom prst="roundRect">
            <a:avLst>
              <a:gd fmla="val 22103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559371" y="437555"/>
            <a:ext cx="1612329" cy="97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50"/>
              <a:buFont typeface="Open Sans"/>
              <a:buNone/>
            </a:pPr>
            <a:r>
              <a:rPr b="0" i="0" lang="en-US" sz="6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GEOGRAPHIC PERFORMANCE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96119" y="602010"/>
            <a:ext cx="8151763" cy="329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050"/>
              <a:buFont typeface="Unbounded"/>
              <a:buNone/>
            </a:pPr>
            <a:r>
              <a:rPr b="1" i="0" lang="en-US" sz="20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State-Level Sales Ranking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96119" y="1065833"/>
            <a:ext cx="8151763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dashboard's state-wise sales analysis identifies the five highest-contributing markets. Karnataka leads the ranking, establishing itself as the primary revenue engine in the dataset.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20216" y="1478682"/>
            <a:ext cx="3258145" cy="3258815"/>
          </a:xfrm>
          <a:prstGeom prst="roundRect">
            <a:avLst>
              <a:gd fmla="val 2330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525587" y="1568276"/>
            <a:ext cx="3047405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Top 5 States by Sales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25587" y="1833711"/>
            <a:ext cx="237232" cy="237232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565138" y="1853505"/>
            <a:ext cx="158130" cy="197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Unbounded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852413" y="1869951"/>
            <a:ext cx="2720578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Karnataka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525587" y="2250132"/>
            <a:ext cx="237232" cy="237232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565138" y="2269927"/>
            <a:ext cx="158130" cy="197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Unbounded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852413" y="2286372"/>
            <a:ext cx="2720578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Uttar Pradesh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525587" y="2666554"/>
            <a:ext cx="237232" cy="237232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565138" y="2686348"/>
            <a:ext cx="158130" cy="197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Unbounded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852413" y="2702793"/>
            <a:ext cx="2720578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Telangana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25587" y="3082975"/>
            <a:ext cx="237232" cy="237232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565138" y="3102769"/>
            <a:ext cx="158130" cy="197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Unbounded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852413" y="3119214"/>
            <a:ext cx="2720578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Maharashtra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25587" y="3499396"/>
            <a:ext cx="237232" cy="237232"/>
          </a:xfrm>
          <a:prstGeom prst="roundRect">
            <a:avLst>
              <a:gd fmla="val 18667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565138" y="3519190"/>
            <a:ext cx="158130" cy="197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Unbounded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852413" y="3535635"/>
            <a:ext cx="2720578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Unbounded"/>
                <a:ea typeface="Unbounded"/>
                <a:cs typeface="Unbounded"/>
                <a:sym typeface="Unbounded"/>
              </a:rPr>
              <a:t>Delhi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3864397" y="1568276"/>
            <a:ext cx="4788173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Business Applications of Geographic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0109" y="1819424"/>
            <a:ext cx="4802460" cy="594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/>
          <p:nvPr/>
        </p:nvSpPr>
        <p:spPr>
          <a:xfrm>
            <a:off x="3998342" y="1833711"/>
            <a:ext cx="4654228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Market Expansion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998342" y="2087984"/>
            <a:ext cx="4654228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High-performing states signal proven demand, making them priority candidates for infrastructure investment and restaurant partner onboarding.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0109" y="2564978"/>
            <a:ext cx="4802460" cy="594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3998342" y="2579266"/>
            <a:ext cx="4654228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Marketing Budget Allocation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3998342" y="2833539"/>
            <a:ext cx="4654228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Prioritize promotional spend in states that demonstrate strong order volume, while testing growth levers in mid-tier markets.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0109" y="3310533"/>
            <a:ext cx="4802460" cy="59494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/>
          <p:nvPr/>
        </p:nvSpPr>
        <p:spPr>
          <a:xfrm>
            <a:off x="3998342" y="3324820"/>
            <a:ext cx="4654228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Operational Resourcing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998342" y="3579093"/>
            <a:ext cx="4654228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Delivery fleet, logistics capacity, and customer support can be allocated proportionally to match regional demand intensity.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0109" y="4056087"/>
            <a:ext cx="4802460" cy="59494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/>
          <p:nvPr/>
        </p:nvSpPr>
        <p:spPr>
          <a:xfrm>
            <a:off x="3998342" y="4070375"/>
            <a:ext cx="4654228" cy="16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000"/>
              <a:buFont typeface="Unbounded"/>
              <a:buNone/>
            </a:pPr>
            <a:r>
              <a:rPr b="1" i="0" lang="en-US" sz="10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Benchmarking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998342" y="4324648"/>
            <a:ext cx="4654228" cy="3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800"/>
              <a:buFont typeface="Open Sans"/>
              <a:buNone/>
            </a:pPr>
            <a:r>
              <a:rPr b="0" i="0" lang="en-US" sz="8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State-to-state performance comparison highlights growth gaps and surfaces underperforming regions that warrant investigation.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4950" y="4870650"/>
            <a:ext cx="1139050" cy="247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496119" y="353392"/>
            <a:ext cx="773088" cy="120402"/>
          </a:xfrm>
          <a:prstGeom prst="roundRect">
            <a:avLst>
              <a:gd fmla="val 22150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543669" y="377130"/>
            <a:ext cx="1135187" cy="729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450"/>
              <a:buFont typeface="Open Sans"/>
              <a:buNone/>
            </a:pPr>
            <a:r>
              <a:rPr b="0" i="0" lang="en-US" sz="4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FOOD TYPE &amp; RATINGS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96119" y="494035"/>
            <a:ext cx="8151763" cy="248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Customer Preferences &amp; Satisfaction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496119" y="868933"/>
            <a:ext cx="3979069" cy="12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Unbounded"/>
              <a:buNone/>
            </a:pPr>
            <a:r>
              <a:rPr b="1" i="0" lang="en-US" sz="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Veg vs Non-Veg Distribution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1997422" y="1565746"/>
            <a:ext cx="97623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65%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0340" y="1069777"/>
            <a:ext cx="1190551" cy="11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/>
          <p:nvPr/>
        </p:nvSpPr>
        <p:spPr>
          <a:xfrm>
            <a:off x="496119" y="2330872"/>
            <a:ext cx="3979069" cy="12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Unbounded"/>
              <a:buNone/>
            </a:pPr>
            <a:r>
              <a:rPr b="1" i="0" lang="en-US" sz="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Vegetarian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96119" y="2505596"/>
            <a:ext cx="3979069" cy="208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00"/>
              <a:buFont typeface="Open Sans"/>
              <a:buNone/>
            </a:pP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Vegetarian orders form the dominant share of the food-type distribution, indicating a strong customer preference across the analyzed markets.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997422" y="3331071"/>
            <a:ext cx="97623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550"/>
              <a:buFont typeface="Unbounded"/>
              <a:buNone/>
            </a:pPr>
            <a:r>
              <a:rPr b="1" i="0" lang="en-US" sz="15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35%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0340" y="2835101"/>
            <a:ext cx="1190551" cy="11905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496119" y="4096196"/>
            <a:ext cx="3979069" cy="12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Unbounded"/>
              <a:buNone/>
            </a:pPr>
            <a:r>
              <a:rPr b="1" i="0" lang="en-US" sz="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Non-Vegetarian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496119" y="4270921"/>
            <a:ext cx="3979069" cy="208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00"/>
              <a:buFont typeface="Open Sans"/>
              <a:buNone/>
            </a:pP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Non-vegetarian orders represent a significant but secondary segment, still meaningful for category-level strategy and restaurant selection.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96119" y="4536207"/>
            <a:ext cx="3979069" cy="208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00"/>
              <a:buFont typeface="Open Sans"/>
              <a:buNone/>
            </a:pP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This distribution can guide </a:t>
            </a:r>
            <a:r>
              <a:rPr b="1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menu planning</a:t>
            </a: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b="1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category-level promotions</a:t>
            </a: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and </a:t>
            </a:r>
            <a:r>
              <a:rPr b="1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restaurant partnership strategies</a:t>
            </a: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to align with actual customer ordering patterns.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4673575" y="868933"/>
            <a:ext cx="3979069" cy="12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Unbounded"/>
              <a:buNone/>
            </a:pPr>
            <a:r>
              <a:rPr b="1" i="0" lang="en-US" sz="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Customer Ratings Deep Dive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3575" y="1049982"/>
            <a:ext cx="3979069" cy="56063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/>
          <p:nvPr/>
        </p:nvSpPr>
        <p:spPr>
          <a:xfrm>
            <a:off x="4800526" y="1138833"/>
            <a:ext cx="3763268" cy="12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Unbounded"/>
              <a:buNone/>
            </a:pPr>
            <a:r>
              <a:rPr b="1" i="0" lang="en-US" sz="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Average Rating: 4.34 / 5.0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800526" y="1313557"/>
            <a:ext cx="3763268" cy="208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00"/>
              <a:buFont typeface="Open Sans"/>
              <a:buNone/>
            </a:pP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strong satisfaction score across 5.59M rating data points — a statistically robust signal of overall service quality on the platform.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3575" y="1661368"/>
            <a:ext cx="3979069" cy="70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0"/>
          <p:cNvSpPr/>
          <p:nvPr/>
        </p:nvSpPr>
        <p:spPr>
          <a:xfrm>
            <a:off x="4800526" y="1750219"/>
            <a:ext cx="3763268" cy="12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Unbounded"/>
              <a:buNone/>
            </a:pPr>
            <a:r>
              <a:rPr b="1" i="0" lang="en-US" sz="7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Analytical Questions for Deeper Exploration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800526" y="1924943"/>
            <a:ext cx="3763268" cy="347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00"/>
              <a:buFont typeface="Open Sans"/>
              <a:buChar char="•"/>
            </a:pP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Do high-order restaurants also maintain high ratings?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00"/>
              <a:buFont typeface="Open Sans"/>
              <a:buChar char="•"/>
            </a:pP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Are highly rated restaurants concentrated in specific states or cities?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1920" lvl="0" marL="12192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00"/>
              <a:buFont typeface="Open Sans"/>
              <a:buChar char="•"/>
            </a:pP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Is rating performance consistent across food categories?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673575" y="2418606"/>
            <a:ext cx="3979069" cy="443285"/>
          </a:xfrm>
          <a:prstGeom prst="roundRect">
            <a:avLst>
              <a:gd fmla="val 7520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2901" y="2500685"/>
            <a:ext cx="99194" cy="7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/>
          <p:nvPr/>
        </p:nvSpPr>
        <p:spPr>
          <a:xfrm>
            <a:off x="4931420" y="2484090"/>
            <a:ext cx="3641899" cy="3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pen Sans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Ratings function as a </a:t>
            </a:r>
            <a:r>
              <a:rPr b="1" i="0" lang="en-US" sz="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customer-experience indicator</a:t>
            </a:r>
            <a:r>
              <a:rPr b="0" i="0" lang="en-US" sz="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— most valuable when evaluated alongside sales and order volume to understand the relationship between service quality and business performance.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04950" y="4870650"/>
            <a:ext cx="1139050" cy="247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496119" y="595610"/>
            <a:ext cx="1447949" cy="179115"/>
          </a:xfrm>
          <a:prstGeom prst="roundRect">
            <a:avLst>
              <a:gd fmla="val 22106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566812" y="630957"/>
            <a:ext cx="1763762" cy="108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00"/>
              <a:buFont typeface="Open Sans"/>
              <a:buNone/>
            </a:pPr>
            <a:r>
              <a:rPr b="0" i="0" lang="en-US" sz="7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DASHBOARD WALKTHROUGH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96119" y="819448"/>
            <a:ext cx="8151763" cy="368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2300"/>
              <a:buFont typeface="Unbounded"/>
              <a:buNone/>
            </a:pPr>
            <a:r>
              <a:rPr b="1" i="0" lang="en-US" sz="230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Interactive Excel Dashboard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96119" y="1355527"/>
            <a:ext cx="8151763" cy="367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dashboard consolidates all analytical dimensions into a single interactive view, enabling stakeholders to filter by state, category, food type, and time period using Excel slicers. The source file is available at the link in the Sources section.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1" name="Google Shape;2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849189"/>
            <a:ext cx="294605" cy="29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1"/>
          <p:cNvSpPr/>
          <p:nvPr/>
        </p:nvSpPr>
        <p:spPr>
          <a:xfrm>
            <a:off x="496119" y="2283693"/>
            <a:ext cx="4005932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KPI Header Panel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96119" y="2534989"/>
            <a:ext cx="4005932" cy="551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Total Sales (₹53.01M), Orders (197.43K), AOV (₹268.51), Rating (4.34), and Rating Count (5.59M) displayed as headline cards at the top of the dashboard for immediate executive visibility.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1949" y="1849189"/>
            <a:ext cx="294605" cy="29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/>
          <p:nvPr/>
        </p:nvSpPr>
        <p:spPr>
          <a:xfrm>
            <a:off x="4641949" y="2283693"/>
            <a:ext cx="4005932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Sales Trend Charts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641949" y="2534989"/>
            <a:ext cx="4005932" cy="551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Monthly, weekly, and daily trend line charts visualize order activity over time, exposing seasonal fluctuations and demand patterns that inform operational and marketing decisions.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3310458"/>
            <a:ext cx="294605" cy="29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/>
          <p:nvPr/>
        </p:nvSpPr>
        <p:spPr>
          <a:xfrm>
            <a:off x="496119" y="3744962"/>
            <a:ext cx="4005932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Geographic Breakdown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96119" y="3996258"/>
            <a:ext cx="4005932" cy="551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State-wise bar chart ranks the Top 5 markets by total sales — Karnataka, Uttar Pradesh, Telangana, Maharashtra, and Delhi — enabling regional strategy decisions at a glance.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1949" y="3310458"/>
            <a:ext cx="294605" cy="29460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4641949" y="3744962"/>
            <a:ext cx="4005932" cy="1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150"/>
              <a:buFont typeface="Unbounded"/>
              <a:buNone/>
            </a:pPr>
            <a:r>
              <a:rPr b="1" i="0" lang="en-US" sz="11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Food Type &amp; Category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641949" y="3996258"/>
            <a:ext cx="4005932" cy="551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00"/>
              <a:buFont typeface="Open Sans"/>
              <a:buNone/>
            </a:pPr>
            <a:r>
              <a:rPr b="0" i="0" lang="en-US" sz="9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Veg vs Non-Veg split (65% / 35%) visualized alongside category-level performance, providing input for menu strategy, partner selection, and promotional targeting.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4950" y="4870650"/>
            <a:ext cx="1139050" cy="247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/>
          <p:nvPr/>
        </p:nvSpPr>
        <p:spPr>
          <a:xfrm>
            <a:off x="496119" y="566886"/>
            <a:ext cx="724644" cy="150837"/>
          </a:xfrm>
          <a:prstGeom prst="roundRect">
            <a:avLst>
              <a:gd fmla="val 22106" name="adj"/>
            </a:avLst>
          </a:prstGeom>
          <a:solidFill>
            <a:srgbClr val="D6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555650" y="596652"/>
            <a:ext cx="1062782" cy="91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600"/>
              <a:buFont typeface="Open Sans"/>
              <a:buNone/>
            </a:pPr>
            <a:r>
              <a:rPr b="0" i="0" lang="en-US" sz="60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496119" y="749424"/>
            <a:ext cx="8151763" cy="31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1950"/>
              <a:buFont typeface="Unbounded"/>
              <a:buNone/>
            </a:pPr>
            <a:r>
              <a:rPr b="1" i="0" lang="en-US" sz="1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What This Analysis Demonstrates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496119" y="1257895"/>
            <a:ext cx="3954884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Analytical Findings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326" y="1505248"/>
            <a:ext cx="148828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/>
          <p:nvPr/>
        </p:nvSpPr>
        <p:spPr>
          <a:xfrm>
            <a:off x="818555" y="1502197"/>
            <a:ext cx="3632448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Scale of Operations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818555" y="1736527"/>
            <a:ext cx="36324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₹53.01M in sales across 197.43K orders establishes a strong baseline — the ₹268.51 average order value suggests consistent mid-range spending behavior.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326" y="2326928"/>
            <a:ext cx="148828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/>
          <p:nvPr/>
        </p:nvSpPr>
        <p:spPr>
          <a:xfrm>
            <a:off x="818555" y="2323877"/>
            <a:ext cx="3632448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Geographic Concentration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818555" y="2558207"/>
            <a:ext cx="36324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Karnataka leads all states, with UP and Telangana rounding out the top three — indicating that southern and northern markets both drive significant volume.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326" y="3148608"/>
            <a:ext cx="148828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2"/>
          <p:cNvSpPr/>
          <p:nvPr/>
        </p:nvSpPr>
        <p:spPr>
          <a:xfrm>
            <a:off x="818555" y="3145557"/>
            <a:ext cx="3632448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Vegetarian Dominance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818555" y="3379887"/>
            <a:ext cx="36324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65% vegetarian share is a meaningful signal for menu strategy, partner curation, and promotional design — categories should reflect this customer preference.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326" y="3970288"/>
            <a:ext cx="148828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/>
          <p:nvPr/>
        </p:nvSpPr>
        <p:spPr>
          <a:xfrm>
            <a:off x="818555" y="3967237"/>
            <a:ext cx="3632448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Strong Customer Satisfaction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818555" y="4201567"/>
            <a:ext cx="36324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4.34 average rating backed by 5.59M data points is statistically credible and reflects positively on overall platform and restaurant service quality.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697760" y="1257895"/>
            <a:ext cx="3954884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Skills Demonstrated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697760" y="1502197"/>
            <a:ext cx="1937742" cy="727993"/>
          </a:xfrm>
          <a:prstGeom prst="roundRect">
            <a:avLst>
              <a:gd fmla="val 5725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4801716" y="1606153"/>
            <a:ext cx="1729829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Data Preparation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4801716" y="1840483"/>
            <a:ext cx="17298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Cleaning and structuring 197K+ raw records for analysis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714827" y="1502197"/>
            <a:ext cx="1937817" cy="727993"/>
          </a:xfrm>
          <a:prstGeom prst="roundRect">
            <a:avLst>
              <a:gd fmla="val 5725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818784" y="1606153"/>
            <a:ext cx="1729904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Pivot Analysis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818784" y="1840483"/>
            <a:ext cx="17299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Multi-dimensional slicing across geography, time, and category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697760" y="2309515"/>
            <a:ext cx="1937742" cy="727993"/>
          </a:xfrm>
          <a:prstGeom prst="roundRect">
            <a:avLst>
              <a:gd fmla="val 5725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4801716" y="2413471"/>
            <a:ext cx="1729829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KPI Design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4801716" y="2647801"/>
            <a:ext cx="172982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Translating raw data into meaningful business metrics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6714827" y="2309515"/>
            <a:ext cx="1937817" cy="727993"/>
          </a:xfrm>
          <a:prstGeom prst="roundRect">
            <a:avLst>
              <a:gd fmla="val 5725" name="adj"/>
            </a:avLst>
          </a:prstGeom>
          <a:solidFill>
            <a:srgbClr val="D6F5EE"/>
          </a:solidFill>
          <a:ln cap="flat" cmpd="sng" w="9525">
            <a:solidFill>
              <a:srgbClr val="BCDB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6818784" y="2413471"/>
            <a:ext cx="1729904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Dashboard UX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6818784" y="2647801"/>
            <a:ext cx="172990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Interactive Excel interface with slicers and visual hierarchy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697760" y="3126804"/>
            <a:ext cx="3954884" cy="155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950"/>
              <a:buFont typeface="Unbounded"/>
              <a:buNone/>
            </a:pPr>
            <a:r>
              <a:rPr b="1" i="0" lang="en-US" sz="950" u="none" cap="none" strike="noStrike">
                <a:solidFill>
                  <a:srgbClr val="333F70"/>
                </a:solidFill>
                <a:latin typeface="Unbounded"/>
                <a:ea typeface="Unbounded"/>
                <a:cs typeface="Unbounded"/>
                <a:sym typeface="Unbounded"/>
              </a:rPr>
              <a:t>Source Data &amp;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697760" y="3361134"/>
            <a:ext cx="441208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F70"/>
              </a:buClr>
              <a:buSzPts val="750"/>
              <a:buFont typeface="Open Sans"/>
              <a:buNone/>
            </a:pPr>
            <a:r>
              <a:rPr b="0" i="0" lang="en-US" sz="750" u="none" cap="none" strike="noStrike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Dashboard screenshot: </a:t>
            </a:r>
            <a:r>
              <a:rPr b="1" i="0" lang="en-US" sz="75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Swiggy_Dashboard.png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4950" y="4870650"/>
            <a:ext cx="1139050" cy="247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6A688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6A688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